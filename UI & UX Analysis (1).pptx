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20B0806030504020204"/>
      <p:regular r:id="rId18"/>
    </p:embeddedFont>
    <p:embeddedFont>
      <p:font typeface="Archivo Black" charset="1" panose="020B0A03020202020B04"/>
      <p:regular r:id="rId19"/>
    </p:embeddedFont>
    <p:embeddedFont>
      <p:font typeface="Open Sans" charset="1" panose="020B0606030504020204"/>
      <p:regular r:id="rId20"/>
    </p:embeddedFont>
    <p:embeddedFont>
      <p:font typeface="Helvetica World Bold" charset="1" panose="020B0800040000020004"/>
      <p:regular r:id="rId21"/>
    </p:embeddedFont>
    <p:embeddedFont>
      <p:font typeface="Soli Px" charset="1" panose="00000000000000000000"/>
      <p:regular r:id="rId22"/>
    </p:embeddedFont>
    <p:embeddedFont>
      <p:font typeface="Helvetica World" charset="1" panose="020B050004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n.wikipedia.org/wiki/User_interface" TargetMode="External" Type="http://schemas.openxmlformats.org/officeDocument/2006/relationships/hyperlink"/><Relationship Id="rId3" Target="https://www.youtube.com/shorts/uN99lMmxxRE" TargetMode="External" Type="http://schemas.openxmlformats.org/officeDocument/2006/relationships/hyperlink"/><Relationship Id="rId4" Target="https://www.lenovo.com/us/en/glossary/what-is-ui/" TargetMode="External" Type="http://schemas.openxmlformats.org/officeDocument/2006/relationships/hyperlink"/><Relationship Id="rId5" Target="https://www.coursera.org/in/articles/ui-vs-ux-design" TargetMode="External" Type="http://schemas.openxmlformats.org/officeDocument/2006/relationships/hyperlink"/><Relationship Id="rId6" Target="https://www.youtube.com/shorts/2U9g-7fu2Q8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479258"/>
            <a:ext cx="9473257" cy="7328484"/>
            <a:chOff x="0" y="0"/>
            <a:chExt cx="2495014" cy="19301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014" cy="1930136"/>
            </a:xfrm>
            <a:custGeom>
              <a:avLst/>
              <a:gdLst/>
              <a:ahLst/>
              <a:cxnLst/>
              <a:rect r="r" b="b" t="t" l="l"/>
              <a:pathLst>
                <a:path h="1930136" w="2495014">
                  <a:moveTo>
                    <a:pt x="41679" y="0"/>
                  </a:moveTo>
                  <a:lnTo>
                    <a:pt x="2453335" y="0"/>
                  </a:lnTo>
                  <a:cubicBezTo>
                    <a:pt x="2476354" y="0"/>
                    <a:pt x="2495014" y="18660"/>
                    <a:pt x="2495014" y="41679"/>
                  </a:cubicBezTo>
                  <a:lnTo>
                    <a:pt x="2495014" y="1888456"/>
                  </a:lnTo>
                  <a:cubicBezTo>
                    <a:pt x="2495014" y="1911475"/>
                    <a:pt x="2476354" y="1930136"/>
                    <a:pt x="2453335" y="1930136"/>
                  </a:cubicBezTo>
                  <a:lnTo>
                    <a:pt x="41679" y="1930136"/>
                  </a:lnTo>
                  <a:cubicBezTo>
                    <a:pt x="18660" y="1930136"/>
                    <a:pt x="0" y="1911475"/>
                    <a:pt x="0" y="1888456"/>
                  </a:cubicBezTo>
                  <a:lnTo>
                    <a:pt x="0" y="41679"/>
                  </a:lnTo>
                  <a:cubicBezTo>
                    <a:pt x="0" y="18660"/>
                    <a:pt x="18660" y="0"/>
                    <a:pt x="4167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95014" cy="196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76364" y="2201394"/>
            <a:ext cx="8894124" cy="6459357"/>
          </a:xfrm>
          <a:custGeom>
            <a:avLst/>
            <a:gdLst/>
            <a:ahLst/>
            <a:cxnLst/>
            <a:rect r="r" b="b" t="t" l="l"/>
            <a:pathLst>
              <a:path h="6459357" w="8894124">
                <a:moveTo>
                  <a:pt x="0" y="0"/>
                </a:moveTo>
                <a:lnTo>
                  <a:pt x="8894124" y="0"/>
                </a:lnTo>
                <a:lnTo>
                  <a:pt x="8894124" y="6459357"/>
                </a:lnTo>
                <a:lnTo>
                  <a:pt x="0" y="6459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26206" y="3420041"/>
            <a:ext cx="3405937" cy="172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60"/>
              </a:lnSpc>
            </a:pPr>
            <a:r>
              <a:rPr lang="en-US" b="true" sz="6343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 &amp; UX Analysis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1298317" y="5412022"/>
            <a:ext cx="5122944" cy="0"/>
          </a:xfrm>
          <a:prstGeom prst="line">
            <a:avLst/>
          </a:prstGeom>
          <a:ln cap="flat" w="38100">
            <a:solidFill>
              <a:srgbClr val="1C214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31156" y="1849158"/>
            <a:ext cx="6132994" cy="82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45"/>
              </a:lnSpc>
            </a:pPr>
            <a:r>
              <a:rPr lang="en-US" b="true" sz="6043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IS UI?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1156" y="3535230"/>
            <a:ext cx="13825687" cy="314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2"/>
              </a:lnSpc>
              <a:spcBef>
                <a:spcPct val="0"/>
              </a:spcBef>
            </a:pPr>
            <a:r>
              <a:rPr lang="en-US" sz="3559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UI stands for User Interface. It is the visual or tactile space where a human interacts with a machine, software, or website. It includes all the elements you see and click, such as screens, buttons, menus, icons, typography, and colors. [</a:t>
            </a:r>
            <a:r>
              <a:rPr lang="en-US" sz="3559" u="sng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  <a:hlinkClick r:id="rId2" tooltip="https://en.wikipedia.org/wiki/User_interface"/>
              </a:rPr>
              <a:t>1</a:t>
            </a:r>
            <a:r>
              <a:rPr lang="en-US" sz="3559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, </a:t>
            </a:r>
            <a:r>
              <a:rPr lang="en-US" sz="3559" u="sng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  <a:hlinkClick r:id="rId3" tooltip="https://www.youtube.com/shorts/uN99lMmxxRE"/>
              </a:rPr>
              <a:t>2</a:t>
            </a:r>
            <a:r>
              <a:rPr lang="en-US" sz="3559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, </a:t>
            </a:r>
            <a:r>
              <a:rPr lang="en-US" sz="3559" u="sng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  <a:hlinkClick r:id="rId4" tooltip="https://www.lenovo.com/us/en/glossary/what-is-ui/"/>
              </a:rPr>
              <a:t>3</a:t>
            </a:r>
            <a:r>
              <a:rPr lang="en-US" sz="3559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, </a:t>
            </a:r>
            <a:r>
              <a:rPr lang="en-US" sz="3559" u="sng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  <a:hlinkClick r:id="rId5" tooltip="https://www.coursera.org/in/articles/ui-vs-ux-design"/>
              </a:rPr>
              <a:t>4</a:t>
            </a:r>
            <a:r>
              <a:rPr lang="en-US" sz="3559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, </a:t>
            </a:r>
            <a:r>
              <a:rPr lang="en-US" sz="3559" u="sng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  <a:hlinkClick r:id="rId6" tooltip="https://www.youtube.com/shorts/2U9g-7fu2Q8"/>
              </a:rPr>
              <a:t>5</a:t>
            </a:r>
            <a:r>
              <a:rPr lang="en-US" sz="3559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]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3686" y="494029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21928" y="1690576"/>
            <a:ext cx="5348869" cy="100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IS UX?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1928" y="3494069"/>
            <a:ext cx="14882716" cy="35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6"/>
              </a:lnSpc>
              <a:spcBef>
                <a:spcPct val="0"/>
              </a:spcBef>
            </a:pPr>
            <a:r>
              <a:rPr lang="en-US" sz="397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UX stands f</a:t>
            </a:r>
            <a:r>
              <a:rPr lang="en-US" sz="397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or User Experience. It refers to how a person feels and behaves when interacting with a product, service, or system. Good UX ensures the interaction is intuitive, efficient, and enjoyable, removing frustration and friction.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9788" y="2232720"/>
            <a:ext cx="13308424" cy="6737985"/>
            <a:chOff x="0" y="0"/>
            <a:chExt cx="160538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5389" cy="812800"/>
            </a:xfrm>
            <a:custGeom>
              <a:avLst/>
              <a:gdLst/>
              <a:ahLst/>
              <a:cxnLst/>
              <a:rect r="r" b="b" t="t" l="l"/>
              <a:pathLst>
                <a:path h="812800" w="1605389">
                  <a:moveTo>
                    <a:pt x="0" y="0"/>
                  </a:moveTo>
                  <a:lnTo>
                    <a:pt x="1605389" y="0"/>
                  </a:lnTo>
                  <a:lnTo>
                    <a:pt x="160538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5402" r="0" b="-540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43460" y="923925"/>
            <a:ext cx="17201080" cy="98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1"/>
              </a:lnSpc>
              <a:spcBef>
                <a:spcPct val="0"/>
              </a:spcBef>
            </a:pPr>
            <a:r>
              <a:rPr lang="en-US" b="true" sz="52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UI VS UX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97771" y="1113504"/>
            <a:ext cx="7292459" cy="106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1"/>
              </a:lnSpc>
              <a:spcBef>
                <a:spcPct val="0"/>
              </a:spcBef>
            </a:pPr>
            <a:r>
              <a:rPr lang="en-US" sz="6279">
                <a:solidFill>
                  <a:srgbClr val="000000"/>
                </a:solidFill>
                <a:latin typeface="Soli Px"/>
                <a:ea typeface="Soli Px"/>
                <a:cs typeface="Soli Px"/>
                <a:sym typeface="Soli Px"/>
              </a:rPr>
              <a:t>APP 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6920" y="2535699"/>
            <a:ext cx="17201080" cy="11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1"/>
              </a:lnSpc>
              <a:spcBef>
                <a:spcPct val="0"/>
              </a:spcBef>
            </a:pPr>
            <a:r>
              <a:rPr lang="en-US" b="true" sz="60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PINTEREST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460" y="3777687"/>
            <a:ext cx="17201080" cy="11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1"/>
              </a:lnSpc>
              <a:spcBef>
                <a:spcPct val="0"/>
              </a:spcBef>
            </a:pPr>
            <a:r>
              <a:rPr lang="en-US" b="true" sz="60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AMAZON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460" y="5014840"/>
            <a:ext cx="17201080" cy="11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1"/>
              </a:lnSpc>
              <a:spcBef>
                <a:spcPct val="0"/>
              </a:spcBef>
            </a:pPr>
            <a:r>
              <a:rPr lang="en-US" b="true" sz="60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SPOTIFY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3460" y="6247255"/>
            <a:ext cx="17201080" cy="11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1"/>
              </a:lnSpc>
              <a:spcBef>
                <a:spcPct val="0"/>
              </a:spcBef>
            </a:pPr>
            <a:r>
              <a:rPr lang="en-US" b="true" sz="60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CHROME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91258" y="7479669"/>
            <a:ext cx="1996202" cy="11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1"/>
              </a:lnSpc>
              <a:spcBef>
                <a:spcPct val="0"/>
              </a:spcBef>
            </a:pPr>
            <a:r>
              <a:rPr lang="en-US" b="true" sz="607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GPAY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2083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5945" y="3336771"/>
            <a:ext cx="5088187" cy="4946175"/>
            <a:chOff x="0" y="0"/>
            <a:chExt cx="1340099" cy="13026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29353" y="3336771"/>
            <a:ext cx="5088187" cy="4946175"/>
            <a:chOff x="0" y="0"/>
            <a:chExt cx="1340099" cy="1302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14619" y="3376530"/>
            <a:ext cx="5088187" cy="4946175"/>
            <a:chOff x="0" y="0"/>
            <a:chExt cx="1340099" cy="13026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2241094" y="2419350"/>
            <a:ext cx="7751586" cy="0"/>
          </a:xfrm>
          <a:prstGeom prst="line">
            <a:avLst/>
          </a:prstGeom>
          <a:ln cap="flat" w="38100">
            <a:solidFill>
              <a:srgbClr val="1C214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4596603" y="598916"/>
            <a:ext cx="2506202" cy="250620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796353" y="8759196"/>
            <a:ext cx="5074418" cy="928888"/>
          </a:xfrm>
          <a:custGeom>
            <a:avLst/>
            <a:gdLst/>
            <a:ahLst/>
            <a:cxnLst/>
            <a:rect r="r" b="b" t="t" l="l"/>
            <a:pathLst>
              <a:path h="928888" w="5074418">
                <a:moveTo>
                  <a:pt x="0" y="0"/>
                </a:moveTo>
                <a:lnTo>
                  <a:pt x="5074418" y="0"/>
                </a:lnTo>
                <a:lnTo>
                  <a:pt x="5074418" y="928888"/>
                </a:lnTo>
                <a:lnTo>
                  <a:pt x="0" y="928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5" t="0" r="-93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54129" y="1171695"/>
            <a:ext cx="10863411" cy="122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43"/>
              </a:lnSpc>
            </a:pPr>
            <a:r>
              <a:rPr lang="en-US" b="true" sz="8993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Pinterest UI/UX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75579" y="4761100"/>
            <a:ext cx="3394428" cy="203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5"/>
              </a:lnSpc>
            </a:pPr>
            <a:r>
              <a:rPr lang="en-US" sz="2197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UI Elements: Masonry grid layout, Pin cards with image &amp; title, floating action button, bottom nav bar, and category pills for filtering.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76598" y="3746346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5393" y="3746346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61482" y="3746346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6232" y="4596070"/>
            <a:ext cx="3394428" cy="244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5"/>
              </a:lnSpc>
            </a:pPr>
            <a:r>
              <a:rPr lang="en-US" sz="2197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UX Features: Visual discovery engine, infinite scroll feed, smart search bar with visual suggestions, and personalized home feed based on interests.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61498" y="4596070"/>
            <a:ext cx="3394428" cy="244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5"/>
              </a:lnSpc>
            </a:pPr>
            <a:r>
              <a:rPr lang="en-US" sz="2197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UX Insight: Seamless Save &amp; Board organization, hover-to-preview interactions, and related Pin recommendations drive deep user engagement.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57337" y="8803701"/>
            <a:ext cx="2913590" cy="82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1"/>
              </a:lnSpc>
              <a:spcBef>
                <a:spcPct val="0"/>
              </a:spcBef>
            </a:pPr>
            <a:r>
              <a:rPr lang="en-US" b="true" sz="44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Rating: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62050"/>
            <a:ext cx="10863411" cy="122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43"/>
              </a:lnSpc>
            </a:pPr>
            <a:r>
              <a:rPr lang="en-US" b="true" sz="8993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Amazon UI/UX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511554"/>
            <a:ext cx="5088187" cy="4946175"/>
            <a:chOff x="0" y="0"/>
            <a:chExt cx="1340099" cy="13026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60405" y="3511554"/>
            <a:ext cx="5088187" cy="4946175"/>
            <a:chOff x="0" y="0"/>
            <a:chExt cx="1340099" cy="13026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4714" y="3511554"/>
            <a:ext cx="5088187" cy="4946175"/>
            <a:chOff x="0" y="0"/>
            <a:chExt cx="1340099" cy="1302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2724114" y="2390655"/>
            <a:ext cx="7751586" cy="0"/>
          </a:xfrm>
          <a:prstGeom prst="line">
            <a:avLst/>
          </a:prstGeom>
          <a:ln cap="flat" w="38100">
            <a:solidFill>
              <a:srgbClr val="1C214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718807" y="598916"/>
            <a:ext cx="2607838" cy="260783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2" r="0" b="-62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620346" y="8762529"/>
            <a:ext cx="5710708" cy="938946"/>
          </a:xfrm>
          <a:custGeom>
            <a:avLst/>
            <a:gdLst/>
            <a:ahLst/>
            <a:cxnLst/>
            <a:rect r="r" b="b" t="t" l="l"/>
            <a:pathLst>
              <a:path h="938946" w="5710708">
                <a:moveTo>
                  <a:pt x="0" y="0"/>
                </a:moveTo>
                <a:lnTo>
                  <a:pt x="5710708" y="0"/>
                </a:lnTo>
                <a:lnTo>
                  <a:pt x="5710708" y="938946"/>
                </a:lnTo>
                <a:lnTo>
                  <a:pt x="0" y="938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75579" y="4893875"/>
            <a:ext cx="3394428" cy="271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5"/>
              </a:lnSpc>
            </a:pPr>
            <a:r>
              <a:rPr lang="en-US" sz="2416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Product Cards: Image, title, price, star ratings, and Prime badge. Scannable layout for quick browsing decisions.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76598" y="4034218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6770" y="3753291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21578" y="3753291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07285" y="4893875"/>
            <a:ext cx="3394428" cy="271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5"/>
              </a:lnSpc>
            </a:pPr>
            <a:r>
              <a:rPr lang="en-US" sz="2416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Search &amp; Filters: Smart search bar with auto-suggestions, category filters, price range sliders, and sort options for refined UX flow.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21593" y="4619944"/>
            <a:ext cx="3394428" cy="271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5"/>
              </a:lnSpc>
            </a:pPr>
            <a:r>
              <a:rPr lang="en-US" sz="2416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Cart &amp; Buy Button: Persistent cart icon, "Add to Cart" vs "Buy Now" CTAs, and a streamlined 1-click checkout e-commerce flow.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61533" y="8803701"/>
            <a:ext cx="5710708" cy="82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1"/>
              </a:lnSpc>
              <a:spcBef>
                <a:spcPct val="0"/>
              </a:spcBef>
            </a:pPr>
            <a:r>
              <a:rPr lang="en-US" b="true" sz="44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Rating: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5945" y="3557156"/>
            <a:ext cx="5088187" cy="4946175"/>
            <a:chOff x="0" y="0"/>
            <a:chExt cx="1340099" cy="13026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99907" y="3557156"/>
            <a:ext cx="5088187" cy="4946175"/>
            <a:chOff x="0" y="0"/>
            <a:chExt cx="1340099" cy="1302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71113" y="3557156"/>
            <a:ext cx="5088187" cy="4946175"/>
            <a:chOff x="0" y="0"/>
            <a:chExt cx="1340099" cy="13026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0099" cy="1302696"/>
            </a:xfrm>
            <a:custGeom>
              <a:avLst/>
              <a:gdLst/>
              <a:ahLst/>
              <a:cxnLst/>
              <a:rect r="r" b="b" t="t" l="l"/>
              <a:pathLst>
                <a:path h="1302696" w="1340099">
                  <a:moveTo>
                    <a:pt x="77599" y="0"/>
                  </a:moveTo>
                  <a:lnTo>
                    <a:pt x="1262500" y="0"/>
                  </a:lnTo>
                  <a:cubicBezTo>
                    <a:pt x="1283080" y="0"/>
                    <a:pt x="1302818" y="8176"/>
                    <a:pt x="1317370" y="22728"/>
                  </a:cubicBezTo>
                  <a:cubicBezTo>
                    <a:pt x="1331923" y="37281"/>
                    <a:pt x="1340099" y="57018"/>
                    <a:pt x="1340099" y="77599"/>
                  </a:cubicBezTo>
                  <a:lnTo>
                    <a:pt x="1340099" y="1225097"/>
                  </a:lnTo>
                  <a:cubicBezTo>
                    <a:pt x="1340099" y="1267954"/>
                    <a:pt x="1305356" y="1302696"/>
                    <a:pt x="1262500" y="1302696"/>
                  </a:cubicBezTo>
                  <a:lnTo>
                    <a:pt x="77599" y="1302696"/>
                  </a:lnTo>
                  <a:cubicBezTo>
                    <a:pt x="34742" y="1302696"/>
                    <a:pt x="0" y="1267954"/>
                    <a:pt x="0" y="1225097"/>
                  </a:cubicBezTo>
                  <a:lnTo>
                    <a:pt x="0" y="77599"/>
                  </a:lnTo>
                  <a:cubicBezTo>
                    <a:pt x="0" y="34742"/>
                    <a:pt x="34742" y="0"/>
                    <a:pt x="77599" y="0"/>
                  </a:cubicBezTo>
                  <a:close/>
                </a:path>
              </a:pathLst>
            </a:custGeom>
            <a:solidFill>
              <a:srgbClr val="DBCB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40099" cy="1369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2189643" y="2524237"/>
            <a:ext cx="7751586" cy="0"/>
          </a:xfrm>
          <a:prstGeom prst="line">
            <a:avLst/>
          </a:prstGeom>
          <a:ln cap="flat" w="38100">
            <a:solidFill>
              <a:srgbClr val="1C214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4425327" y="723183"/>
            <a:ext cx="2833973" cy="283397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999" r="0" b="-2500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428501" y="8691497"/>
            <a:ext cx="5593092" cy="996587"/>
          </a:xfrm>
          <a:custGeom>
            <a:avLst/>
            <a:gdLst/>
            <a:ahLst/>
            <a:cxnLst/>
            <a:rect r="r" b="b" t="t" l="l"/>
            <a:pathLst>
              <a:path h="996587" w="5593092">
                <a:moveTo>
                  <a:pt x="0" y="0"/>
                </a:moveTo>
                <a:lnTo>
                  <a:pt x="5593092" y="0"/>
                </a:lnTo>
                <a:lnTo>
                  <a:pt x="5593092" y="996587"/>
                </a:lnTo>
                <a:lnTo>
                  <a:pt x="0" y="996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133475"/>
            <a:ext cx="10863411" cy="100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12"/>
              </a:lnSpc>
            </a:pPr>
            <a:r>
              <a:rPr lang="en-US" b="true" sz="7344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Spotify UI/UX Elements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76613" y="4868842"/>
            <a:ext cx="3394428" cy="277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4"/>
              </a:lnSpc>
            </a:pPr>
            <a:r>
              <a:rPr lang="en-US" sz="2102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Navigation Tabs: Bottom nav bar with Home, Search, and Library tabs for quick access. Album Art displayed prominently on Now Playing screen enhances visual engagement.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76598" y="3753291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6770" y="3753291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21578" y="3753291"/>
            <a:ext cx="1594459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1"/>
              </a:lnSpc>
            </a:pPr>
            <a:r>
              <a:rPr lang="en-US" b="true" sz="33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46786" y="4813002"/>
            <a:ext cx="3394428" cy="237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4"/>
              </a:lnSpc>
            </a:pPr>
            <a:r>
              <a:rPr lang="en-US" sz="2102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Play Controls: Intuitive playback bar with shuffle, repeat, skip, and play/pause buttons. Mini-player persists across screens for seamless audio streaming UX.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21593" y="4612977"/>
            <a:ext cx="3394428" cy="277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4"/>
              </a:lnSpc>
            </a:pPr>
            <a:r>
              <a:rPr lang="en-US" sz="2102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Playlist Cards: Grid and list-style cards with cover art and titles. Personalized recommendations via "Made For You" improve discoverability and user retention.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43569" y="8735191"/>
            <a:ext cx="3403217" cy="82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1"/>
              </a:lnSpc>
              <a:spcBef>
                <a:spcPct val="0"/>
              </a:spcBef>
            </a:pPr>
            <a:r>
              <a:rPr lang="en-US" b="true" sz="4479">
                <a:solidFill>
                  <a:srgbClr val="1C214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Rating: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A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58465"/>
            <a:ext cx="9473257" cy="7328484"/>
            <a:chOff x="0" y="0"/>
            <a:chExt cx="2495014" cy="19301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014" cy="1930136"/>
            </a:xfrm>
            <a:custGeom>
              <a:avLst/>
              <a:gdLst/>
              <a:ahLst/>
              <a:cxnLst/>
              <a:rect r="r" b="b" t="t" l="l"/>
              <a:pathLst>
                <a:path h="1930136" w="2495014">
                  <a:moveTo>
                    <a:pt x="41679" y="0"/>
                  </a:moveTo>
                  <a:lnTo>
                    <a:pt x="2453335" y="0"/>
                  </a:lnTo>
                  <a:cubicBezTo>
                    <a:pt x="2476354" y="0"/>
                    <a:pt x="2495014" y="18660"/>
                    <a:pt x="2495014" y="41679"/>
                  </a:cubicBezTo>
                  <a:lnTo>
                    <a:pt x="2495014" y="1888456"/>
                  </a:lnTo>
                  <a:cubicBezTo>
                    <a:pt x="2495014" y="1911475"/>
                    <a:pt x="2476354" y="1930136"/>
                    <a:pt x="2453335" y="1930136"/>
                  </a:cubicBezTo>
                  <a:lnTo>
                    <a:pt x="41679" y="1930136"/>
                  </a:lnTo>
                  <a:cubicBezTo>
                    <a:pt x="18660" y="1930136"/>
                    <a:pt x="0" y="1911475"/>
                    <a:pt x="0" y="1888456"/>
                  </a:cubicBezTo>
                  <a:lnTo>
                    <a:pt x="0" y="41679"/>
                  </a:lnTo>
                  <a:cubicBezTo>
                    <a:pt x="0" y="18660"/>
                    <a:pt x="18660" y="0"/>
                    <a:pt x="4167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95014" cy="196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268828" y="4359526"/>
            <a:ext cx="5122944" cy="0"/>
          </a:xfrm>
          <a:prstGeom prst="line">
            <a:avLst/>
          </a:prstGeom>
          <a:ln cap="flat" w="38100">
            <a:solidFill>
              <a:srgbClr val="1C21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879817" y="2836336"/>
            <a:ext cx="7771024" cy="4614327"/>
          </a:xfrm>
          <a:custGeom>
            <a:avLst/>
            <a:gdLst/>
            <a:ahLst/>
            <a:cxnLst/>
            <a:rect r="r" b="b" t="t" l="l"/>
            <a:pathLst>
              <a:path h="4614327" w="7771024">
                <a:moveTo>
                  <a:pt x="0" y="0"/>
                </a:moveTo>
                <a:lnTo>
                  <a:pt x="7771023" y="0"/>
                </a:lnTo>
                <a:lnTo>
                  <a:pt x="7771023" y="4614328"/>
                </a:lnTo>
                <a:lnTo>
                  <a:pt x="0" y="4614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848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25166" y="8562595"/>
            <a:ext cx="6118451" cy="1125489"/>
          </a:xfrm>
          <a:custGeom>
            <a:avLst/>
            <a:gdLst/>
            <a:ahLst/>
            <a:cxnLst/>
            <a:rect r="r" b="b" t="t" l="l"/>
            <a:pathLst>
              <a:path h="1125489" w="6118451">
                <a:moveTo>
                  <a:pt x="0" y="0"/>
                </a:moveTo>
                <a:lnTo>
                  <a:pt x="6118451" y="0"/>
                </a:lnTo>
                <a:lnTo>
                  <a:pt x="6118451" y="1125489"/>
                </a:lnTo>
                <a:lnTo>
                  <a:pt x="0" y="1125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222920" y="1714481"/>
            <a:ext cx="5122944" cy="23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69"/>
              </a:lnSpc>
            </a:pPr>
            <a:r>
              <a:rPr lang="en-US" b="true" sz="5780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Chrome</a:t>
            </a:r>
          </a:p>
          <a:p>
            <a:pPr algn="l" marL="0" indent="0" lvl="0">
              <a:lnSpc>
                <a:spcPts val="6069"/>
              </a:lnSpc>
            </a:pPr>
            <a:r>
              <a:rPr lang="en-US" b="true" sz="5780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UI/UX Elements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68828" y="5095875"/>
            <a:ext cx="5168852" cy="181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2"/>
              </a:lnSpc>
            </a:pPr>
            <a:r>
              <a:rPr lang="en-US" sz="2594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Address bar (Omnibox), Tab system, Bookmarks bar, Extensions toolbar, Incognito mode, Minimalist &amp; clean browser UX design.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47866" y="8820684"/>
            <a:ext cx="4391502" cy="77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8"/>
              </a:lnSpc>
              <a:spcBef>
                <a:spcPct val="0"/>
              </a:spcBef>
            </a:pPr>
            <a:r>
              <a:rPr lang="en-US" sz="4542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UX Rating 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A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49758"/>
            <a:ext cx="9473257" cy="7328484"/>
            <a:chOff x="0" y="0"/>
            <a:chExt cx="2495014" cy="19301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5014" cy="1930136"/>
            </a:xfrm>
            <a:custGeom>
              <a:avLst/>
              <a:gdLst/>
              <a:ahLst/>
              <a:cxnLst/>
              <a:rect r="r" b="b" t="t" l="l"/>
              <a:pathLst>
                <a:path h="1930136" w="2495014">
                  <a:moveTo>
                    <a:pt x="41679" y="0"/>
                  </a:moveTo>
                  <a:lnTo>
                    <a:pt x="2453335" y="0"/>
                  </a:lnTo>
                  <a:cubicBezTo>
                    <a:pt x="2476354" y="0"/>
                    <a:pt x="2495014" y="18660"/>
                    <a:pt x="2495014" y="41679"/>
                  </a:cubicBezTo>
                  <a:lnTo>
                    <a:pt x="2495014" y="1888456"/>
                  </a:lnTo>
                  <a:cubicBezTo>
                    <a:pt x="2495014" y="1911475"/>
                    <a:pt x="2476354" y="1930136"/>
                    <a:pt x="2453335" y="1930136"/>
                  </a:cubicBezTo>
                  <a:lnTo>
                    <a:pt x="41679" y="1930136"/>
                  </a:lnTo>
                  <a:cubicBezTo>
                    <a:pt x="18660" y="1930136"/>
                    <a:pt x="0" y="1911475"/>
                    <a:pt x="0" y="1888456"/>
                  </a:cubicBezTo>
                  <a:lnTo>
                    <a:pt x="0" y="41679"/>
                  </a:lnTo>
                  <a:cubicBezTo>
                    <a:pt x="0" y="18660"/>
                    <a:pt x="18660" y="0"/>
                    <a:pt x="4167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95014" cy="196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268828" y="5162550"/>
            <a:ext cx="5122944" cy="0"/>
          </a:xfrm>
          <a:prstGeom prst="line">
            <a:avLst/>
          </a:prstGeom>
          <a:ln cap="flat" w="38100">
            <a:solidFill>
              <a:srgbClr val="1C21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680251" y="1640548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21638" y="8691803"/>
            <a:ext cx="5416042" cy="996281"/>
          </a:xfrm>
          <a:custGeom>
            <a:avLst/>
            <a:gdLst/>
            <a:ahLst/>
            <a:cxnLst/>
            <a:rect r="r" b="b" t="t" l="l"/>
            <a:pathLst>
              <a:path h="996281" w="5416042">
                <a:moveTo>
                  <a:pt x="0" y="0"/>
                </a:moveTo>
                <a:lnTo>
                  <a:pt x="5416042" y="0"/>
                </a:lnTo>
                <a:lnTo>
                  <a:pt x="5416042" y="996281"/>
                </a:lnTo>
                <a:lnTo>
                  <a:pt x="0" y="996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268828" y="2195942"/>
            <a:ext cx="5122944" cy="23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69"/>
              </a:lnSpc>
            </a:pPr>
            <a:r>
              <a:rPr lang="en-US" b="true" sz="5780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GPay</a:t>
            </a:r>
          </a:p>
          <a:p>
            <a:pPr algn="l" marL="0" indent="0" lvl="0">
              <a:lnSpc>
                <a:spcPts val="6069"/>
              </a:lnSpc>
            </a:pPr>
            <a:r>
              <a:rPr lang="en-US" b="true" sz="5780">
                <a:solidFill>
                  <a:srgbClr val="1C21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UI/UX Elements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68828" y="5762625"/>
            <a:ext cx="5168852" cy="222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38"/>
              </a:lnSpc>
            </a:pPr>
            <a:r>
              <a:rPr lang="en-US" sz="2527">
                <a:solidFill>
                  <a:srgbClr val="1C214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QR Scanner, Payment Buttons, Transaction History, Contact Chips &amp; Secure Payment UX patterns that define Google Pay's seamless experience.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72303" y="8752133"/>
            <a:ext cx="3343394" cy="78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7"/>
              </a:lnSpc>
              <a:spcBef>
                <a:spcPct val="0"/>
              </a:spcBef>
            </a:pPr>
            <a:r>
              <a:rPr lang="en-US" sz="4526">
                <a:solidFill>
                  <a:srgbClr val="1C2143"/>
                </a:solidFill>
                <a:latin typeface="Archivo Black"/>
                <a:ea typeface="Archivo Black"/>
                <a:cs typeface="Archivo Black"/>
                <a:sym typeface="Archivo Black"/>
              </a:rPr>
              <a:t>UX Rating: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9804" y="1630713"/>
            <a:ext cx="5081058" cy="5983193"/>
          </a:xfrm>
          <a:custGeom>
            <a:avLst/>
            <a:gdLst/>
            <a:ahLst/>
            <a:cxnLst/>
            <a:rect r="r" b="b" t="t" l="l"/>
            <a:pathLst>
              <a:path h="5983193" w="5081058">
                <a:moveTo>
                  <a:pt x="0" y="0"/>
                </a:moveTo>
                <a:lnTo>
                  <a:pt x="5081058" y="0"/>
                </a:lnTo>
                <a:lnTo>
                  <a:pt x="5081058" y="5983194"/>
                </a:lnTo>
                <a:lnTo>
                  <a:pt x="0" y="598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40862" y="1630713"/>
            <a:ext cx="5027232" cy="5983193"/>
          </a:xfrm>
          <a:custGeom>
            <a:avLst/>
            <a:gdLst/>
            <a:ahLst/>
            <a:cxnLst/>
            <a:rect r="r" b="b" t="t" l="l"/>
            <a:pathLst>
              <a:path h="5983193" w="5027232">
                <a:moveTo>
                  <a:pt x="0" y="0"/>
                </a:moveTo>
                <a:lnTo>
                  <a:pt x="5027232" y="0"/>
                </a:lnTo>
                <a:lnTo>
                  <a:pt x="5027232" y="5983194"/>
                </a:lnTo>
                <a:lnTo>
                  <a:pt x="0" y="5983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68094" y="1630713"/>
            <a:ext cx="5586791" cy="5983193"/>
          </a:xfrm>
          <a:custGeom>
            <a:avLst/>
            <a:gdLst/>
            <a:ahLst/>
            <a:cxnLst/>
            <a:rect r="r" b="b" t="t" l="l"/>
            <a:pathLst>
              <a:path h="5983193" w="5586791">
                <a:moveTo>
                  <a:pt x="0" y="0"/>
                </a:moveTo>
                <a:lnTo>
                  <a:pt x="5586791" y="0"/>
                </a:lnTo>
                <a:lnTo>
                  <a:pt x="5586791" y="5983194"/>
                </a:lnTo>
                <a:lnTo>
                  <a:pt x="0" y="598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17598" y="962025"/>
            <a:ext cx="7656379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SUMMARY-UI&amp;UX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6284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3460" y="598916"/>
            <a:ext cx="17201080" cy="9089168"/>
            <a:chOff x="0" y="0"/>
            <a:chExt cx="4530326" cy="2393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325" cy="2393855"/>
            </a:xfrm>
            <a:custGeom>
              <a:avLst/>
              <a:gdLst/>
              <a:ahLst/>
              <a:cxnLst/>
              <a:rect r="r" b="b" t="t" l="l"/>
              <a:pathLst>
                <a:path h="2393855" w="4530325">
                  <a:moveTo>
                    <a:pt x="22954" y="0"/>
                  </a:moveTo>
                  <a:lnTo>
                    <a:pt x="4507371" y="0"/>
                  </a:lnTo>
                  <a:cubicBezTo>
                    <a:pt x="4520049" y="0"/>
                    <a:pt x="4530325" y="10277"/>
                    <a:pt x="4530325" y="22954"/>
                  </a:cubicBezTo>
                  <a:lnTo>
                    <a:pt x="4530325" y="2370901"/>
                  </a:lnTo>
                  <a:cubicBezTo>
                    <a:pt x="4530325" y="2383578"/>
                    <a:pt x="4520049" y="2393855"/>
                    <a:pt x="4507371" y="2393855"/>
                  </a:cubicBezTo>
                  <a:lnTo>
                    <a:pt x="22954" y="2393855"/>
                  </a:lnTo>
                  <a:cubicBezTo>
                    <a:pt x="10277" y="2393855"/>
                    <a:pt x="0" y="2383578"/>
                    <a:pt x="0" y="2370901"/>
                  </a:cubicBezTo>
                  <a:lnTo>
                    <a:pt x="0" y="22954"/>
                  </a:lnTo>
                  <a:cubicBezTo>
                    <a:pt x="0" y="10277"/>
                    <a:pt x="10277" y="0"/>
                    <a:pt x="22954" y="0"/>
                  </a:cubicBezTo>
                  <a:close/>
                </a:path>
              </a:pathLst>
            </a:custGeom>
            <a:solidFill>
              <a:srgbClr val="FAF8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326" cy="2431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13637" y="3547520"/>
            <a:ext cx="6660726" cy="374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30"/>
              </a:lnSpc>
              <a:spcBef>
                <a:spcPct val="0"/>
              </a:spcBef>
            </a:pPr>
            <a:r>
              <a:rPr lang="en-US" sz="10735">
                <a:solidFill>
                  <a:srgbClr val="000000"/>
                </a:solidFill>
                <a:latin typeface="Soli Px"/>
                <a:ea typeface="Soli Px"/>
                <a:cs typeface="Soli Px"/>
                <a:sym typeface="Soli Px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DAHOP3ai2oY</dc:identifier>
  <dcterms:modified xsi:type="dcterms:W3CDTF">2011-08-01T06:04:30Z</dcterms:modified>
  <cp:revision>1</cp:revision>
  <dc:title>UI &amp; UX Analysis</dc:title>
</cp:coreProperties>
</file>